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eue Haas Grotesk Text Pro" panose="020B0504020202020204" pitchFamily="34" charset="0"/>
      <p:regular r:id="rId13"/>
    </p:embeddedFont>
    <p:embeddedFont>
      <p:font typeface="Plus Jakarta Sans" panose="020B0604020202020204" charset="0"/>
      <p:regular r:id="rId14"/>
    </p:embeddedFont>
    <p:embeddedFont>
      <p:font typeface="Plus Jakarta Sans Light" panose="020B0604020202020204" charset="0"/>
      <p:regular r:id="rId15"/>
    </p:embeddedFont>
    <p:embeddedFont>
      <p:font typeface="Plus Jakarta Sans Medium" panose="020B0604020202020204" charset="0"/>
      <p:regular r:id="rId16"/>
    </p:embeddedFont>
    <p:embeddedFont>
      <p:font typeface="Plus Jakarta Sans Semi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79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7066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66874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46244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12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90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221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1521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24207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866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79695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113407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49922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23656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285087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7102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3098791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8053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92244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77378222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59304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0493529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898346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61252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0381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1558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942265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4322737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D2A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3100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DAD7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476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528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22446"/>
            <a:ext cx="11582110" cy="607616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u="sng" kern="100" spc="92" dirty="0">
                <a:solidFill>
                  <a:srgbClr val="151513"/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CUSTOMER SHOPPING BEHAVIOR ANALYSIS</a:t>
            </a:r>
            <a:endParaRPr lang="en-US" sz="2000" u="sng" dirty="0"/>
          </a:p>
        </p:txBody>
      </p:sp>
      <p:sp>
        <p:nvSpPr>
          <p:cNvPr id="3" name="Text 1"/>
          <p:cNvSpPr/>
          <p:nvPr/>
        </p:nvSpPr>
        <p:spPr>
          <a:xfrm>
            <a:off x="609585" y="2324642"/>
            <a:ext cx="10972526" cy="169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800" kern="100" spc="-136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3,900 purchases</a:t>
            </a:r>
            <a:endParaRPr lang="en-US" sz="68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6800" kern="100" spc="-136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show where to invest next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609585" y="5472609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75726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5752247"/>
            <a:ext cx="4206075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Transactional data across four product categories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272749" y="5752247"/>
            <a:ext cx="6309361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Uncover spending patterns, segments, product preferences and subscription behavior to guide strategic decisions.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1435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from raw data to</a:t>
            </a:r>
            <a:endParaRPr lang="en-US" sz="38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decision-ready insight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2854821"/>
            <a:ext cx="8418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09585" y="3148211"/>
            <a:ext cx="2400240" cy="19050"/>
          </a:xfrm>
          <a:prstGeom prst="rect">
            <a:avLst/>
          </a:prstGeom>
          <a:solidFill>
            <a:srgbClr val="15151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315196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Clean in Python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782159"/>
            <a:ext cx="2400240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3,900 rows, 18 columns. Filled 37 missing review ratings with category medians.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467013" y="2854821"/>
            <a:ext cx="8850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467013" y="3148211"/>
            <a:ext cx="2400240" cy="19050"/>
          </a:xfrm>
          <a:prstGeom prst="rect">
            <a:avLst/>
          </a:prstGeom>
          <a:solidFill>
            <a:srgbClr val="151513"/>
          </a:solidFill>
          <a:ln/>
        </p:spPr>
      </p:sp>
      <p:sp>
        <p:nvSpPr>
          <p:cNvPr id="9" name="Text 7"/>
          <p:cNvSpPr/>
          <p:nvPr/>
        </p:nvSpPr>
        <p:spPr>
          <a:xfrm>
            <a:off x="3467013" y="3315196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Engineer fields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67013" y="3782159"/>
            <a:ext cx="2400240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 groups and purchase frequency. Dropped the redundant promo code field.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24442" y="2854821"/>
            <a:ext cx="8876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24442" y="3148211"/>
            <a:ext cx="2400240" cy="19050"/>
          </a:xfrm>
          <a:prstGeom prst="rect">
            <a:avLst/>
          </a:prstGeom>
          <a:solidFill>
            <a:srgbClr val="151513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442" y="3315196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Query MySQL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4442" y="3782159"/>
            <a:ext cx="2400240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Answered ten business questions.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81870" y="2854821"/>
            <a:ext cx="89503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181870" y="3148211"/>
            <a:ext cx="2400240" cy="19050"/>
          </a:xfrm>
          <a:prstGeom prst="rect">
            <a:avLst/>
          </a:prstGeom>
          <a:solidFill>
            <a:srgbClr val="151513"/>
          </a:solidFill>
          <a:ln/>
        </p:spPr>
      </p:sp>
      <p:sp>
        <p:nvSpPr>
          <p:cNvPr id="17" name="Text 15"/>
          <p:cNvSpPr/>
          <p:nvPr/>
        </p:nvSpPr>
        <p:spPr>
          <a:xfrm>
            <a:off x="9181870" y="3315196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Publish Power BI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81870" y="3782159"/>
            <a:ext cx="2400240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 interactive dashboard.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05030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male customers drive twice the</a:t>
            </a:r>
            <a:endParaRPr lang="en-US" sz="38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revenue of female customers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23368"/>
            <a:ext cx="10972526" cy="368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800427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2" dirty="0">
                <a:solidFill>
                  <a:srgbClr val="4544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Male $157,890 · Female $75,191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1435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subscribers spend the same as</a:t>
            </a:r>
            <a:endParaRPr lang="en-US" sz="38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everyone else, and there are few of them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585" y="2149773"/>
            <a:ext cx="5257668" cy="3542903"/>
          </a:xfrm>
          <a:prstGeom prst="rect">
            <a:avLst/>
          </a:prstGeom>
          <a:solidFill>
            <a:srgbClr val="DAD7CE"/>
          </a:solidFill>
          <a:ln/>
        </p:spPr>
      </p:sp>
      <p:sp>
        <p:nvSpPr>
          <p:cNvPr id="4" name="Text 2"/>
          <p:cNvSpPr/>
          <p:nvPr/>
        </p:nvSpPr>
        <p:spPr>
          <a:xfrm>
            <a:off x="965176" y="2519819"/>
            <a:ext cx="490207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151513"/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SUBSCRIBERS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5176" y="2889555"/>
            <a:ext cx="4546486" cy="821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600" kern="100" spc="-198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1,053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65176" y="3818473"/>
            <a:ext cx="4902077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subscribers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65176" y="4283968"/>
            <a:ext cx="4546387" cy="31651"/>
          </a:xfrm>
          <a:prstGeom prst="roundRect">
            <a:avLst>
              <a:gd name="adj" fmla="val 49998"/>
            </a:avLst>
          </a:prstGeom>
          <a:solidFill>
            <a:srgbClr val="75726A"/>
          </a:solidFill>
          <a:ln/>
        </p:spPr>
      </p:sp>
      <p:sp>
        <p:nvSpPr>
          <p:cNvPr id="8" name="Text 6"/>
          <p:cNvSpPr/>
          <p:nvPr/>
        </p:nvSpPr>
        <p:spPr>
          <a:xfrm>
            <a:off x="965176" y="4576068"/>
            <a:ext cx="454648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$59.49 average spend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5176" y="5043031"/>
            <a:ext cx="4902077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$62,645 total revenue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324442" y="2149773"/>
            <a:ext cx="5257668" cy="3542903"/>
          </a:xfrm>
          <a:prstGeom prst="rect">
            <a:avLst/>
          </a:prstGeom>
          <a:solidFill>
            <a:srgbClr val="DAD7CE"/>
          </a:solidFill>
          <a:ln/>
        </p:spPr>
      </p:sp>
      <p:sp>
        <p:nvSpPr>
          <p:cNvPr id="11" name="Text 9"/>
          <p:cNvSpPr/>
          <p:nvPr/>
        </p:nvSpPr>
        <p:spPr>
          <a:xfrm>
            <a:off x="6680033" y="2519819"/>
            <a:ext cx="490207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151513"/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NON-SUBSCRIBERS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80033" y="2889555"/>
            <a:ext cx="4546486" cy="821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600" kern="100" spc="-198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2,847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6680033" y="3818473"/>
            <a:ext cx="4902077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non-subscribers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80033" y="4283968"/>
            <a:ext cx="4546387" cy="31651"/>
          </a:xfrm>
          <a:prstGeom prst="roundRect">
            <a:avLst>
              <a:gd name="adj" fmla="val 49998"/>
            </a:avLst>
          </a:prstGeom>
          <a:solidFill>
            <a:srgbClr val="75726A"/>
          </a:solidFill>
          <a:ln/>
        </p:spPr>
      </p:sp>
      <p:sp>
        <p:nvSpPr>
          <p:cNvPr id="15" name="Text 13"/>
          <p:cNvSpPr/>
          <p:nvPr/>
        </p:nvSpPr>
        <p:spPr>
          <a:xfrm>
            <a:off x="6680033" y="4576068"/>
            <a:ext cx="454648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$59.87 average spend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80033" y="5043031"/>
            <a:ext cx="4902077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$170,436 total revenue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1435"/>
            <a:ext cx="10972526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most customers are already loyal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529854"/>
            <a:ext cx="10972526" cy="3175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85" y="4942979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75726A"/>
          </a:solidFill>
          <a:ln/>
        </p:spPr>
      </p:sp>
      <p:sp>
        <p:nvSpPr>
          <p:cNvPr id="5" name="Text 2"/>
          <p:cNvSpPr/>
          <p:nvPr/>
        </p:nvSpPr>
        <p:spPr>
          <a:xfrm>
            <a:off x="609585" y="5222617"/>
            <a:ext cx="10972526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Repeat buyers (5+ purchases) include 958 subscribers and 2,518 non-subscribers: loyalty has not converted into subscriptions.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1435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young adults lead revenue,</a:t>
            </a:r>
            <a:endParaRPr lang="en-US" sz="38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but age groups sit close together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79724"/>
            <a:ext cx="10972526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1435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top-rated items are not</a:t>
            </a:r>
            <a:endParaRPr lang="en-US" sz="38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the discounted ones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2106216"/>
            <a:ext cx="52576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Highest rated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278314"/>
              </p:ext>
            </p:extLst>
          </p:nvPr>
        </p:nvGraphicFramePr>
        <p:xfrm>
          <a:off x="609585" y="2563416"/>
          <a:ext cx="5138072" cy="2891162"/>
        </p:xfrm>
        <a:graphic>
          <a:graphicData uri="http://schemas.openxmlformats.org/drawingml/2006/table">
            <a:tbl>
              <a:tblPr/>
              <a:tblGrid>
                <a:gridCol w="359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Item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Rating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Gloves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3.86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Sandals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3.84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Boots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3.82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Hat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3.80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2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Skirt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3.78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24442" y="2106216"/>
            <a:ext cx="52576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Most discount-dependent</a:t>
            </a:r>
            <a:endParaRPr lang="en-US" sz="2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2" y="2563416"/>
          <a:ext cx="5257668" cy="2891162"/>
        </p:xfrm>
        <a:graphic>
          <a:graphicData uri="http://schemas.openxmlformats.org/drawingml/2006/table">
            <a:tbl>
              <a:tblPr/>
              <a:tblGrid>
                <a:gridCol w="3680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Item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Discount %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Hat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50.00%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Sneakers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49.66%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Coat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49.07%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Sweater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48.17%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2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Pants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515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47.37%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7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A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09585" y="6055955"/>
            <a:ext cx="1158211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Best sellers: Jewelry, Blouse, Pants, Sandals and Jacket lead their categories.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1435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discounts and express shipping</a:t>
            </a:r>
            <a:endParaRPr lang="en-US" sz="38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both coincide with strong spend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2901487"/>
            <a:ext cx="5130672" cy="1194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9600" kern="100" spc="-288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839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09585" y="4158258"/>
            <a:ext cx="513067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customers used a discount and still spent above the average purchase.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51439" y="2758837"/>
            <a:ext cx="513067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151513"/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AVERAGE SPEND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51439" y="3126615"/>
            <a:ext cx="5130672" cy="796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400" kern="100" spc="-192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$60.48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51439" y="4032587"/>
            <a:ext cx="5130672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Express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51439" y="4498082"/>
            <a:ext cx="5130672" cy="31651"/>
          </a:xfrm>
          <a:prstGeom prst="roundRect">
            <a:avLst>
              <a:gd name="adj" fmla="val 49998"/>
            </a:avLst>
          </a:prstGeom>
          <a:solidFill>
            <a:srgbClr val="75726A"/>
          </a:solidFill>
          <a:ln/>
        </p:spPr>
      </p:sp>
      <p:sp>
        <p:nvSpPr>
          <p:cNvPr id="9" name="Text 7"/>
          <p:cNvSpPr/>
          <p:nvPr/>
        </p:nvSpPr>
        <p:spPr>
          <a:xfrm>
            <a:off x="6451439" y="4790182"/>
            <a:ext cx="513067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$58.46 Standard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89498" y="2439591"/>
            <a:ext cx="12700" cy="2963366"/>
          </a:xfrm>
          <a:prstGeom prst="rect">
            <a:avLst/>
          </a:prstGeom>
          <a:solidFill>
            <a:srgbClr val="75726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9835"/>
            <a:ext cx="10972526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5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The dashboard puts it all in one 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114762"/>
            <a:ext cx="1158211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1000"/>
              </a:lnSpc>
            </a:pPr>
            <a:r>
              <a:rPr lang="en-US" sz="165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3,900 customers · 3.75 average review rating · $59.76 average purchase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09585" y="6103441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2" dirty="0">
                <a:solidFill>
                  <a:srgbClr val="4544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Clothing is the largest revenue category.</a:t>
            </a:r>
            <a:endParaRPr lang="en-US" sz="12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06BC2F-0153-2DDB-553D-216243189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446586"/>
            <a:ext cx="8158540" cy="4628839"/>
          </a:xfrm>
          <a:prstGeom prst="roundRect">
            <a:avLst>
              <a:gd name="adj" fmla="val 4464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AD7CE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87285"/>
            <a:ext cx="10972526" cy="751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800" kern="100" spc="-87" dirty="0">
                <a:solidFill>
                  <a:srgbClr val="151513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five moves to invest in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609585" y="2048867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5443F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13494" y="1982192"/>
            <a:ext cx="10568616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Boost subscriptions with exclusive benefits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874367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5443F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13494" y="2807692"/>
            <a:ext cx="10568616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Reward repeat buyers through loyalty programs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699867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5443F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13494" y="3633192"/>
            <a:ext cx="10568616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 discount policy to balance sales and margin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4525367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5443F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13494" y="4458692"/>
            <a:ext cx="10568616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Highlight top-rated and best-selling products in campaigns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585" y="5350867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5443F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05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13494" y="5284192"/>
            <a:ext cx="10568616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1515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high-revenue age groups and express-shipping users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585" y="2560042"/>
            <a:ext cx="10972526" cy="12700"/>
          </a:xfrm>
          <a:prstGeom prst="rect">
            <a:avLst/>
          </a:prstGeom>
          <a:solidFill>
            <a:srgbClr val="75726A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3385542"/>
            <a:ext cx="10972526" cy="12700"/>
          </a:xfrm>
          <a:prstGeom prst="rect">
            <a:avLst/>
          </a:prstGeom>
          <a:solidFill>
            <a:srgbClr val="7572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4211042"/>
            <a:ext cx="10972526" cy="12700"/>
          </a:xfrm>
          <a:prstGeom prst="rect">
            <a:avLst/>
          </a:prstGeom>
          <a:solidFill>
            <a:srgbClr val="75726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5036542"/>
            <a:ext cx="10972526" cy="12700"/>
          </a:xfrm>
          <a:prstGeom prst="rect">
            <a:avLst/>
          </a:prstGeom>
          <a:solidFill>
            <a:srgbClr val="75726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116</TotalTime>
  <Words>346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Neue Haas Grotesk Text Pro</vt:lpstr>
      <vt:lpstr>Plus Jakarta Sans SemiBold</vt:lpstr>
      <vt:lpstr>Plus Jakarta Sans Medium</vt:lpstr>
      <vt:lpstr>Plus Jakarta Sans</vt:lpstr>
      <vt:lpstr>Plus Jakarta Sans Light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Vicky</cp:lastModifiedBy>
  <cp:revision>3</cp:revision>
  <dcterms:created xsi:type="dcterms:W3CDTF">2026-10-12T09:18:14Z</dcterms:created>
  <dcterms:modified xsi:type="dcterms:W3CDTF">2026-10-13T11:20:17Z</dcterms:modified>
</cp:coreProperties>
</file>